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9E9A"/>
                </a:solidFill>
                <a:latin typeface="Calibri"/>
              </a:rPr>
              <a:t>DATA PIPELINE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803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Olist E-Commerce ELT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CED6"/>
                </a:solidFill>
                <a:latin typeface="Calibri"/>
              </a:rPr>
              <a:t>Azure Data Factory  +  Self-Hosted Integration Runtime  +  Azure Databricks  +  Azure SQL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AA3AD"/>
                </a:solidFill>
                <a:latin typeface="Calibri"/>
              </a:rPr>
              <a:t>Bhanu Teja Chindukuri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rgbClr val="2B2B2B"/>
                </a:solidFill>
                <a:latin typeface="Calibri"/>
              </a:rPr>
              <a:t>▪ Build an ELT pipeline over the complete Kaggle Olist Brazilian e-commerce dataset — all 9 files, ~1.55M source rows.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2B2B2B"/>
                </a:solidFill>
                <a:latin typeface="Calibri"/>
              </a:rPr>
              <a:t>▪ Two source types: CSV files in cloud object storage, and relational tables in a database (Oracle in the brief; substituted with PostgreSQL — noted per the brief's own instruction).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2B2B2B"/>
                </a:solidFill>
                <a:latin typeface="Calibri"/>
              </a:rPr>
              <a:t>▪ Transform with PySpark on Azure Databricks.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2B2B2B"/>
                </a:solidFill>
                <a:latin typeface="Calibri"/>
              </a:rPr>
              <a:t>▪ Load typed, query-ready tables into Azure SQL Database, with per-entity process logging, reconciliation, and data-quality flags built in.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rgbClr val="2B2B2B"/>
                </a:solidFill>
                <a:latin typeface="Calibri"/>
              </a:rPr>
              <a:t>▪ The full real dataset was reviewed locally before the first cloud run, and the transform design reflects what that review turned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47C"/>
                </a:solidFill>
                <a:latin typeface="Calibri"/>
              </a:rPr>
              <a:t>Source: Data Pipeline Exercise.docx (original brief) · README.md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As-Built Architecture</a:t>
            </a:r>
          </a:p>
        </p:txBody>
      </p:sp>
      <p:pic>
        <p:nvPicPr>
          <p:cNvPr id="6" name="Picture 5" descr="archit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92" y="1234440"/>
            <a:ext cx="5289176" cy="5394960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75120" y="146304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▪ PostgreSQL 16 (Docker) reached by ADF through a Self-Hosted Integration Runtime — the on-prem-source pattern, pointed at Postgres instead of Oracle.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▪ ADLS Gen2 inbox → raw zone, run-scoped: raw/&lt;entity&gt;/run_id=&lt;ADF RunId&gt;/.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▪ 9 parameterised Copy activities, metadata-driven from config/entities.json (Lookup → Filter ×2 → ForEach ×2).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▪ Azure Databricks (PySpark): rename · cast · null handling · dedup · DQ flags · ingestion metadata · per-entity process logging.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2B2B2B"/>
                </a:solidFill>
                <a:latin typeface="Calibri"/>
              </a:rPr>
              <a:t>▪ Azure SQL Database (serverless): curated (9 tables) · etl.pipeline_process_log · mart (3 views).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Design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6926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82296" cy="9692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99616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2440"/>
                </a:solidFill>
              </a:rPr>
              <a:t>Dumb ingestion, smart transformation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2B2B"/>
                </a:solidFill>
              </a:rPr>
              <a:t>Copy activities do 1:1 structural moves only; a transform bug never forces re-extraction.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96312"/>
            <a:ext cx="10881360" cy="96926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96312"/>
            <a:ext cx="82296" cy="9692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2440"/>
                </a:solidFill>
              </a:rPr>
              <a:t>Run-scoped raw zone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2B2B"/>
                </a:solidFill>
              </a:rPr>
              <a:t>Every run lands under raw/&lt;entity&gt;/run_id=&lt;guid&gt; — each run is reproducible against its exact input.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75304"/>
            <a:ext cx="10881360" cy="96926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75304"/>
            <a:ext cx="82296" cy="9692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2440"/>
                </a:solidFill>
              </a:rPr>
              <a:t>Flag, don't drop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2B2B"/>
                </a:solidFill>
              </a:rPr>
              <a:t>Invalid payment types and impossible delivery dates are kept and flagged; legitimate business nulls are preserved and documented.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54296"/>
            <a:ext cx="10881360" cy="96926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654296"/>
            <a:ext cx="82296" cy="9692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36592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2440"/>
                </a:solidFill>
              </a:rPr>
              <a:t>Operational metadata everywhere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2B2B"/>
                </a:solidFill>
              </a:rPr>
              <a:t>Every curated row carries ingestion_timestamp + pipeline_run_id; every entity load writes read/written/flagged counts to etl.pipeline_process_log.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733288"/>
            <a:ext cx="10881360" cy="969264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733288"/>
            <a:ext cx="82296" cy="9692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815584"/>
            <a:ext cx="103327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62440"/>
                </a:solidFill>
              </a:rPr>
              <a:t>Verify before you spend</a:t>
            </a:r>
          </a:p>
          <a:p>
            <a:pPr>
              <a:spcBef>
                <a:spcPts val="300"/>
              </a:spcBef>
            </a:pPr>
            <a:r>
              <a:rPr sz="1300">
                <a:solidFill>
                  <a:srgbClr val="2B2B2B"/>
                </a:solidFill>
              </a:rPr>
              <a:t>The whole transform layer runs locally against the real files first; the cloud phases only have to prove the seams (auth, copies, JDBC).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Services Used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77440"/>
                <a:gridCol w="5852160"/>
              </a:tblGrid>
              <a:tr h="7315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Why this one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Azure Data Factory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Orchestration + ingestion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Copy activity covers both source connectors natively; SHIR demonstrates the on-prem-source pattern; Monitor gives free observability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Self-Hosted Integration Runtime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Bridge to local Postgres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The relational source lives outside Azure — exactly how on-prem Oracle is reached in production ADF setups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ADLS Gen2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Landing zones (inbox, raw)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Decouples extraction from transformation; parquet as the typed intermediate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Azure Databricks (PySpark)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Transformation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Set-based, testable transforms; config-driven entity pipeline + window-function dedup are natural in Spark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Azure SQL Database (serverless)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Analytical target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Queryable SQL target required; auto-pause keeps cost near zero for ~570k curated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Databricks-native secret scope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Secrets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B2B2B"/>
                          </a:solidFill>
                        </a:rPr>
                        <a:t>Subscription blocks Key Vault RBAC / managed identity; secrets live in Databricks' own store instead</a:t>
                      </a:r>
                    </a:p>
                  </a:txBody>
                  <a:tcPr anchor="ctr">
                    <a:solidFill>
                      <a:srgbClr val="F3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Entities &amp; Transformations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4712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188720"/>
                <a:gridCol w="1828800"/>
                <a:gridCol w="6309360"/>
              </a:tblGrid>
              <a:tr h="53949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Entity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Rows in → curated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Key transformations</a:t>
                      </a:r>
                    </a:p>
                  </a:txBody>
                  <a:tcPr>
                    <a:solidFill>
                      <a:srgbClr val="162440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orders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Postgres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99,441 → 99,441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Timestamp casts, lower-cased status, is_valid_delivery_date flag (0 flagged), dedup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customers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Postgres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99,441 → 99,441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INITCAP city, upper state; customer_unique_id documented as person-level key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order_items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Postgres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112,650 → 112,650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Int/decimal/timestamp casts, dedup on (order_id, order_item_id)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order_payments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Postgres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103,886 → 103,886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is_valid_payment flag — catches exactly 3 not_defined rows, kept not dropped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order_reviews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Postgres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99,224 → 99,224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Multiline-quoted CSV; review_id alone NOT unique (789 dup) → key is (review_id, order_id)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products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inbox CSV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32,951 → 32,951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Rename *_lenght typo columns, COALESCE(category,'unknown') — 610 nulls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sellers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inbox CSV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3,095 → 3,095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INITCAP city, upper state, dedup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geolocation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inbox CSV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1,000,163 → 19,015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Zip-prefix-grain dimension — see judgement call</a:t>
                      </a:r>
                    </a:p>
                  </a:txBody>
                  <a:tcPr anchor="ctr" marT="25400" marB="25400">
                    <a:solidFill>
                      <a:srgbClr val="F3F6F8"/>
                    </a:solidFill>
                  </a:tcPr>
                </a:tc>
              </a:tr>
              <a:tr h="5394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category translation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inbox CSV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71 → 71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B2B2B"/>
                          </a:solidFill>
                        </a:rPr>
                        <a:t>UTF-8 BOM neutralized; 2 categories have no translation → mart falls back to Portuguese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DATA MODEL — JUDGEMENT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Geolocation: 1M Points → 19,015-Zip 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rows_read = 1,000,163      →      rows_written = 19,015   (a deliberate grain change, not a reconciliation failure)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604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▪ The raw file is a 1,000,163-row point cloud with no key — many rows per zip prefix.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▪ Its only consumers (customers / sellers) join at zip-prefix grain, not point grain.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▪ A 1M-row JDBC truncate-load into min-capacity serverless SQL costs minutes-to-tens-of-minutes per run for a table nothing can join at that grain.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▪ Decision: ADF still lands all 1M rows in raw (dumb ingestion, full fidelity retained); the curated table is a 19,015-row zip dimension — centroid lat/lng averaged per zip, modal city/state, point_count per zip.</a:t>
            </a:r>
          </a:p>
          <a:p>
            <a:pPr>
              <a:spcAft>
                <a:spcPts val="1600"/>
              </a:spcAft>
            </a:pPr>
            <a:r>
              <a:rPr sz="1800" b="1">
                <a:solidFill>
                  <a:srgbClr val="2B2B2B"/>
                </a:solidFill>
                <a:latin typeface="Calibri"/>
              </a:rPr>
              <a:t>▪ 29 out-of-bounds points excluded from centroids but counted in invalid_point_count; 4 zips whose points are all invalid kept with NULL coordinates.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Consumption Layer — Mart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6B747C"/>
                </a:solidFill>
                <a:latin typeface="Calibri"/>
              </a:rPr>
              <a:t>Proof that both source systems (relational Postgres + file-based CSVs) come together as one integrated, analytically-queryable dataset.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10881360" cy="14173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82296" cy="1417320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93976"/>
            <a:ext cx="1033272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2440"/>
                </a:solidFill>
              </a:rPr>
              <a:t>mart.v_sales_overview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B2B2B"/>
                </a:solidFill>
              </a:rPr>
              <a:t>Orders, GMV and avg delivery days by state × English category name (translation LEFT JOIN with Portuguese fallback); delivered + DQ-valid orders only.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547872"/>
            <a:ext cx="10881360" cy="14173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547872"/>
            <a:ext cx="82296" cy="1417320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75888"/>
            <a:ext cx="1033272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2440"/>
                </a:solidFill>
              </a:rPr>
              <a:t>mart.v_payment_mix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B2B2B"/>
                </a:solidFill>
              </a:rPr>
              <a:t>Order coverage, value share and instalment behaviour per payment type — credit_card 76,795 · boleto 19,784 · voucher 5,775 · debit_card 1,529; the 3 not_defined rows excluded, visible in the DQ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129784"/>
            <a:ext cx="10881360" cy="1417320"/>
          </a:xfrm>
          <a:prstGeom prst="rect">
            <a:avLst/>
          </a:prstGeom>
          <a:solidFill>
            <a:srgbClr val="F3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5129784"/>
            <a:ext cx="82296" cy="1417320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57800"/>
            <a:ext cx="10332720" cy="119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2440"/>
                </a:solidFill>
              </a:rPr>
              <a:t>mart.v_review_delivery</a:t>
            </a:r>
          </a:p>
          <a:p>
            <a:pPr>
              <a:spcBef>
                <a:spcPts val="500"/>
              </a:spcBef>
            </a:pPr>
            <a:r>
              <a:rPr sz="1350">
                <a:solidFill>
                  <a:srgbClr val="2B2B2B"/>
                </a:solidFill>
              </a:rPr>
              <a:t>Avg delivery days and %-late per review score — 1★ 11,424 · 2★ 3,151 · 3★ 8,179 · 4★ 19,142 · 5★ 57,328 — makes the late-delivery → bad-review story queryable.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CLOUD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 — Source Systems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900" y="1371600"/>
            <a:ext cx="3813560" cy="4572000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783385"/>
            <a:ext cx="5394960" cy="1748429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PostgreSQL 16 (Docker) — olist DB, src schema, 5 transactional 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6080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Row counts at source: orders 99,441 · customers 99,441 · order_items 112,650 · order_payments 103,886 · order_reviews 99,224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CLOUD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 — ADF Linked Services</a:t>
            </a:r>
          </a:p>
        </p:txBody>
      </p:sp>
      <p:pic>
        <p:nvPicPr>
          <p:cNvPr id="6" name="Picture 5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357" y="1371600"/>
            <a:ext cx="4094645" cy="4572000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3658" y="1371600"/>
            <a:ext cx="4154923" cy="4572000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PostgreSQL linked service via self-hosted-shir — connection successful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6080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Azure Databricks linked service — connection successful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CLOUD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 — Pipeline Run (End-to-End)</a:t>
            </a:r>
          </a:p>
        </p:txBody>
      </p:sp>
      <p:pic>
        <p:nvPicPr>
          <p:cNvPr id="6" name="Picture 5" descr="imag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6100"/>
            <a:ext cx="10515600" cy="4905879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pl_olist_ingest: Lookup → Filter ×2 → ForEach ×2 (9 parameterised copies) → Notebook_Transform_Load — all activities succeeded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CLOUD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 — Landing Zone (ADLS Gen2)</a:t>
            </a:r>
          </a:p>
        </p:txBody>
      </p:sp>
      <p:pic>
        <p:nvPicPr>
          <p:cNvPr id="6" name="Picture 5" descr="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3994"/>
            <a:ext cx="5394960" cy="3287212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424255"/>
            <a:ext cx="5394960" cy="2466689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6080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inbox/ — 4 reference CSVs (geolocation, product_category_translation, products, sellers)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6080760"/>
            <a:ext cx="5394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raw/parquet/ — run-scoped Postgres extracts, named &lt;entity&gt;&lt;RunId&gt;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CLOUD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 — Databricks Transform Run</a:t>
            </a:r>
          </a:p>
        </p:txBody>
      </p:sp>
      <p:pic>
        <p:nvPicPr>
          <p:cNvPr id="6" name="Picture 5" descr="im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741" y="1280160"/>
            <a:ext cx="10328037" cy="4937760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transform_olist notebook job — Succeeded in 6m 2s; per-entity read/written/flagged counts match the documented figures exactly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CLOUD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 — Curated Load Reconciliation</a:t>
            </a:r>
          </a:p>
        </p:txBody>
      </p:sp>
      <p:pic>
        <p:nvPicPr>
          <p:cNvPr id="6" name="Picture 5" descr="im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56165"/>
            <a:ext cx="10515600" cy="4585750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B747C"/>
                </a:solidFill>
                <a:latin typeface="Calibri"/>
              </a:rPr>
              <a:t>Azure SQL query editor — curated.* row counts: orders 99,441 · customers 99,441 · order_items 112,650 · order_payments 103,886 · order_reviews 99,224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CLOUD EXECUTION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Evidence — Mart Outputs</a:t>
            </a:r>
          </a:p>
        </p:txBody>
      </p:sp>
      <p:pic>
        <p:nvPicPr>
          <p:cNvPr id="6" name="Picture 5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03120"/>
            <a:ext cx="3611880" cy="1413756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365760" y="3699756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B747C"/>
                </a:solidFill>
                <a:latin typeface="Calibri"/>
              </a:rPr>
              <a:t>v_sales_overview — top states × categories by order count</a:t>
            </a:r>
          </a:p>
        </p:txBody>
      </p:sp>
      <p:pic>
        <p:nvPicPr>
          <p:cNvPr id="8" name="Picture 7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103120"/>
            <a:ext cx="3611880" cy="1532600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160520" y="3818600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B747C"/>
                </a:solidFill>
                <a:latin typeface="Calibri"/>
              </a:rPr>
              <a:t>v_payment_mix — full 4-row output</a:t>
            </a:r>
          </a:p>
        </p:txBody>
      </p:sp>
      <p:pic>
        <p:nvPicPr>
          <p:cNvPr id="10" name="Picture 9" descr="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79" y="2103120"/>
            <a:ext cx="3611880" cy="1667986"/>
          </a:xfrm>
          <a:prstGeom prst="rect">
            <a:avLst/>
          </a:prstGeom>
          <a:ln w="9525">
            <a:solidFill>
              <a:srgbClr val="D5D9DD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955279" y="3953986"/>
            <a:ext cx="3611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6B747C"/>
                </a:solidFill>
                <a:latin typeface="Calibri"/>
              </a:rPr>
              <a:t>v_review_delivery — full 5-row output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ASSUMPTIONS &amp;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Key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50" b="1">
                <a:solidFill>
                  <a:srgbClr val="2B2B2B"/>
                </a:solidFill>
                <a:latin typeface="Calibri"/>
              </a:rPr>
              <a:t>▪ Local Docker Postgres behind a Self-Hosted IR as the relational source — Azure PG was not provisionable in this subscription; the SHIR pattern is the honest equivalent of production on-prem sources.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2B2B2B"/>
                </a:solidFill>
                <a:latin typeface="Calibri"/>
              </a:rPr>
              <a:t>▪ Verified parquet-extract fallback removes even the laptop-uptime risk for re-runs — a single ADF source-dataset swap, everything downstream identical.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2B2B2B"/>
                </a:solidFill>
                <a:latin typeface="Calibri"/>
              </a:rPr>
              <a:t>▪ Full reload (truncate-load) per run — appropriate for the volume/scope; incremental is designed but not implemented (see productionising).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2B2B2B"/>
                </a:solidFill>
                <a:latin typeface="Calibri"/>
              </a:rPr>
              <a:t>▪ Failure isolation per entity — one failing entity is logged FAILED in the process log; the other eight still load; the run fails at the end so Monitor shows red.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2B2B2B"/>
                </a:solidFill>
                <a:latin typeface="Calibri"/>
              </a:rPr>
              <a:t>▪ No Azure Key Vault, no role assignments anywhere — this subscription blocks granting Key Vault access and assigning any Azure role. Secrets are secure strings in ADF linked services and a Databricks-native secret scope instead.</a:t>
            </a:r>
          </a:p>
          <a:p>
            <a:pPr>
              <a:spcAft>
                <a:spcPts val="1400"/>
              </a:spcAft>
            </a:pPr>
            <a:r>
              <a:rPr sz="1750" b="1">
                <a:solidFill>
                  <a:srgbClr val="2B2B2B"/>
                </a:solidFill>
                <a:latin typeface="Calibri"/>
              </a:rPr>
              <a:t>▪ Single-node smallest Databricks cluster, 15-min auto-terminate — right-sized for ~1.55M rows; transforms are partition-agnostic and scale to a multi-node cluster unchanged.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E9A"/>
                </a:solidFill>
                <a:latin typeface="Calibr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Productionising for a Daily/Monthly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Incremental extraction — watermark control table; ADF Lookup reads the high-water mark; CDC/Debezium if the source gains change tracking.</a:t>
            </a:r>
          </a:p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Merge instead of truncate-load — stage + keyed MERGE into curated; opens the door to SCD2 on customers/sellers.</a:t>
            </a:r>
          </a:p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Reference data cadence — geolocation and category translation are slowly changing; refresh monthly, not per run.</a:t>
            </a:r>
          </a:p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Trigger &amp; recovery — tumbling-window trigger with retry; idempotency already guaranteed by run-scoped raw folders.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Alerting &amp; observability — Azure Monitor alerts on pipeline failure and reconciliation drift; lifecycle management on the raw zone.</a:t>
            </a:r>
          </a:p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Security hardening — private endpoints, managed identity end-to-end, TLS to the source, secret rotation.</a:t>
            </a:r>
          </a:p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CI/CD — factory attached to Git; transform logic migrated to dbt as the model count grows.</a:t>
            </a:r>
          </a:p>
          <a:p>
            <a:pPr>
              <a:spcAft>
                <a:spcPts val="2000"/>
              </a:spcAft>
            </a:pPr>
            <a:r>
              <a:rPr sz="1550" b="1">
                <a:solidFill>
                  <a:srgbClr val="2B2B2B"/>
                </a:solidFill>
                <a:latin typeface="Calibri"/>
              </a:rPr>
              <a:t>▪ Cost at scale — job clusters (spot-backed); partitioned parallel copies; Synapse/Fabric only when volume justifies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566160"/>
            <a:ext cx="12191695" cy="54864"/>
          </a:xfrm>
          <a:prstGeom prst="rect">
            <a:avLst/>
          </a:prstGeom>
          <a:solidFill>
            <a:srgbClr val="009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CED6"/>
                </a:solidFill>
                <a:latin typeface="Calibri"/>
              </a:rPr>
              <a:t>Repository: Data Pipeline Exercise/  ·  Full Olist dataset reviewed locally before the cloud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